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Avg Daily Return (scaled)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Return (x10,000)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1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B84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HDFC</c:v>
                  </c:pt>
                  <c:pt idx="1">
                    <c:v>Infosys</c:v>
                  </c:pt>
                  <c:pt idx="2">
                    <c:v>Reliance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-0.845</c:v>
                </c:pt>
                <c:pt idx="2">
                  <c:v>-4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1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1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75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5A4"/>
                </a:solidFill>
              </a:rPr>
              <a:t>PORTFOLIO ANALYTICS  | 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1051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3200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8FA3B1"/>
                </a:solidFill>
              </a:rPr>
              <a:t>HDFC  ·  INFOSYS  ·  RELIANCE  |  12-Month Analysis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3246120"/>
            <a:ext cx="32004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</a:rPr>
              <a:t>Prepared by  Prateek Bag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Data Analyst  ·  Power BI  ·  SQL  ·  Python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4114800"/>
            <a:ext cx="1051560" cy="77724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41696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</a:rPr>
              <a:t>233M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60720" y="4498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Total Volume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31152" y="4114800"/>
            <a:ext cx="1051560" cy="77724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31152" y="41696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</a:rPr>
              <a:t>1.00K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31152" y="4498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Avg Price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101584" y="4114800"/>
            <a:ext cx="1051560" cy="77724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101584" y="41696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101584" y="4498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Stocks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What we cover today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Presentation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457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94760" y="1005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94760" y="1243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Objectives, dataset &amp; tech stack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664208"/>
            <a:ext cx="457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664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Pipeline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94760" y="1901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Python → SQL → Power BI workflow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0" y="2322576"/>
            <a:ext cx="457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794760" y="2322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Stock Performance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94760" y="2560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HDFC, Infosys &amp; Reliance comparison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0" y="2980944"/>
            <a:ext cx="457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94760" y="2980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794760" y="32186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Volatility, returns &amp; trading peaks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0" y="3639312"/>
            <a:ext cx="457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794760" y="3639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Business Strategy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794760" y="38770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Investment &amp; trading recommendations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0" y="4297680"/>
            <a:ext cx="457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79476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Future Roadmap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794760" y="45354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Enhancements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560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274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End-to-End Stock Market Analytics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51560"/>
            <a:ext cx="274320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43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408" y="1161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4632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Analyze HDFC, Infosys &amp; Reliance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4632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12-month return &amp; risk assessment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4632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Identify best long-term stock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Find peak trading windows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" y="4069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Executive-level dashboard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64408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64408" y="1051560"/>
            <a:ext cx="274320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1430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22776" y="1161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42900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3 major Indian stocks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42900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12 months of daily data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42900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Fields: Open, High, Low, Close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42900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Volume &amp; Daily Return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429000" y="4069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Total Volume: 233M units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08776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08776" y="1051560"/>
            <a:ext cx="2743200" cy="685800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1430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67144" y="1161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373368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Python — Data cleaning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373368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SQL Server — 10+ queries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373368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Power BI — Dashboard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373368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DAX — KPI measures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373368" y="4069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</a:rPr>
              <a:t>Jupyter Notebook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</a:rPr>
              <a:t>DATA ANALYTICS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5A4"/>
                </a:solidFill>
              </a:rPr>
              <a:t>Python  →  SQL  →  Power BI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51760" cy="36118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6517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1673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35024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1591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Data Cleaning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Import raw CSV data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Handle nulls &amp; duplicates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127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Engineer daily_return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Format date columns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151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Export clean dataset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71800" y="2926080"/>
            <a:ext cx="2743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54680" y="28163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46120" y="1261872"/>
            <a:ext cx="2651760" cy="36118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261872"/>
            <a:ext cx="2651760" cy="731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131673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35024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97680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SQL Server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297680" y="1591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Analysis (10 Queries)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Avg return per stock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383280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Volatility via STDEV()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383280" y="3127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Top 5 worst trade days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38328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Seasonal month trends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383280" y="4151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CTE: total return %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897880" y="2926080"/>
            <a:ext cx="27432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080760" y="28163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172200" y="1261872"/>
            <a:ext cx="2651760" cy="36118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172200" y="1261872"/>
            <a:ext cx="2651760" cy="7315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309360" y="131673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30936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35024"/>
            <a:ext cx="411480" cy="4114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223760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 BI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7223760" y="1591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Dashboard &amp; DAX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3093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6 KPI metric cards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309360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Bar, donut &amp; line charts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6309360" y="3127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DAX calculated measures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30936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Dynamic filters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6309360" y="4151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A4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Executive insight card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56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STOCK PERFORMANCE COMPARISON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66344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663440" y="1005840"/>
            <a:ext cx="109728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46320" y="1115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46320" y="14813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Verdict: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532120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Best Pick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46320" y="1810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Return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846320" y="1965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+0.0003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44768" y="1810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Volatility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44768" y="1965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0.011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443216" y="1810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Contribution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443216" y="1965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100%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2377440"/>
            <a:ext cx="109728" cy="1188720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2487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46320" y="28529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Verdict: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53212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166"/>
                </a:solidFill>
              </a:rPr>
              <a:t>Neutral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846320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Return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46320" y="3337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-0.000085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144768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Volatility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144768" y="3337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0.011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443216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Contribution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43216" y="3337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Minimal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663440" y="37490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63440" y="3749040"/>
            <a:ext cx="109728" cy="11887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46320" y="3858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4846320" y="4224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Verdict: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532120" y="4224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3226"/>
                </a:solidFill>
              </a:rPr>
              <a:t>Avoid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46320" y="4553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Return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846320" y="4709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-0.0004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144768" y="4553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Volatility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144768" y="4709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0.010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7443216" y="4553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Contribution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443216" y="4709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Negative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</a:rPr>
              <a:t>KEY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What the data tells us about these 3 stocks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06240" cy="16002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20624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8132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904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HDFC is the top performer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Only stock with positive avg daily return (+0.0003). Contributes 100% of portfolio returns — the clear long-term hold.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206240" cy="16002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80160"/>
            <a:ext cx="4206240" cy="7315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9472" y="1481328"/>
            <a:ext cx="457200" cy="457200"/>
          </a:xfrm>
          <a:prstGeom prst="ellipse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9047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Reliance drags portfolio negative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19472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Avg daily return of -0.0004 pushes overall portfolio to -0.0051%. Worst performer across all 3 metrics.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3063240"/>
            <a:ext cx="4206240" cy="16002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63240"/>
            <a:ext cx="420624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" y="3264408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27355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9848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May–June is the peak trading window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" y="3749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All 3 stocks spike to ~8M volume in months 5–6 vs a ~6M baseline. Best period for high-liquidity trade execution.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3063240"/>
            <a:ext cx="4206240" cy="16002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063240"/>
            <a:ext cx="4206240" cy="73152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9472" y="3264408"/>
            <a:ext cx="457200" cy="457200"/>
          </a:xfrm>
          <a:prstGeom prst="ellipse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73552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04688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Volatility is macro-driven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919472" y="3749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HDFC &amp; Infosys share identical volatility (0.011) and Reliance is 0.010 — showing uniform market-wide pressure, not stock-specific risk.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560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BUSINESS STRATEGY &amp; RECOMMENDATIONS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05840"/>
            <a:ext cx="278892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89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Long-Term Investment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Recommended: HDFC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93192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Allocate majority of long-term portfolio to HDFC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93192" y="2587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Only stock with consistent positive returns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93192" y="330098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100% return contribution — proven performer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93192" y="4014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Volatility is manageable at 0.011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1005840"/>
            <a:ext cx="2788920" cy="7132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7899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8620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Trading Strategy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88620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Timing: May–June Window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364992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84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Execute high-volume trades in May–June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364992" y="2587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84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~8M volume spike across all 3 stocks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364992" y="330098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84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Tighter bid-ask spreads during peak volume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364992" y="4014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84B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Ideal for both entry and exit positions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17220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72200" y="1005840"/>
            <a:ext cx="2788920" cy="7132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7899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Management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5800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Risk-Adjusted Allocation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336792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Overweight HDFC (top performer)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336792" y="2587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Hold Infosys as low-risk neutral position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336792" y="330098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Reduce Reliance exposure — negative return drag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336792" y="4014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</a:rPr>
              <a:t>Max drawdown of -0.03 — set stop-loss at this level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SQL ANALYSIS — 10 BUSINESS QUESTIONS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4480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daily return per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AVG(daily_return) GROUP BY stock_name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volatile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STDEV(daily_return) GROUP BY stock_name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return per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SUM(daily_return) ORDER BY desc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average return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 + ORDER BY highest_avg_return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Yearly average price trend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AVG(close) GROUP BY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with highest trading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MAX(volume) GROUP BY stock_name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worst return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ORDER BY daily_return ASC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performance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+ STDEV GROUP BY stock_name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return trends by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SUM(daily_return) GROUP BY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stock for long-term (CTE)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CTE: Initial vs Current Price → Total Return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</a:rPr>
              <a:t>DASHBOARD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5A4"/>
                </a:solidFill>
              </a:rPr>
              <a:t>Power BI — Key Performance Indicators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15544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9748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9903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90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Avg Closing Price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84632" y="2441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Average across 12 months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1234440"/>
            <a:ext cx="2697480" cy="15544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234440"/>
            <a:ext cx="2697480" cy="6400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399032"/>
            <a:ext cx="411480" cy="411480"/>
          </a:xfrm>
          <a:prstGeom prst="ellipse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9903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0208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Avg Daily Return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56432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-0.0051%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456432" y="2441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Portfolio daily avg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1234440"/>
            <a:ext cx="2697480" cy="15544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63640" y="1234440"/>
            <a:ext cx="2697480" cy="640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1399032"/>
            <a:ext cx="411480" cy="41148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9903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22008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Total Volume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28232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233M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6428232" y="2441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Units traded across all stocks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20040" y="2971800"/>
            <a:ext cx="2697480" cy="15544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20040" y="2971800"/>
            <a:ext cx="2697480" cy="64008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3136392"/>
            <a:ext cx="411480" cy="411480"/>
          </a:xfrm>
          <a:prstGeom prst="ellipse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36392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8408" y="3136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Max Drawdown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84632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484632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Worst peak-to-trough decline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91840" y="2971800"/>
            <a:ext cx="2697480" cy="15544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91840" y="2971800"/>
            <a:ext cx="269748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429000" y="3136392"/>
            <a:ext cx="411480" cy="4114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36392"/>
            <a:ext cx="411480" cy="4114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950208" y="3136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Best Stock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456432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2600" dirty="0"/>
          </a:p>
        </p:txBody>
      </p:sp>
      <p:sp>
        <p:nvSpPr>
          <p:cNvPr id="39" name="Text 32"/>
          <p:cNvSpPr/>
          <p:nvPr/>
        </p:nvSpPr>
        <p:spPr>
          <a:xfrm>
            <a:off x="3456432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100% return contribution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263640" y="2971800"/>
            <a:ext cx="2697480" cy="155448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263640" y="2971800"/>
            <a:ext cx="2697480" cy="6400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400800" y="3136392"/>
            <a:ext cx="411480" cy="411480"/>
          </a:xfrm>
          <a:prstGeom prst="ellipse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36392"/>
            <a:ext cx="411480" cy="4114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22008" y="3136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Worst Stock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428232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2600" dirty="0"/>
          </a:p>
        </p:txBody>
      </p:sp>
      <p:sp>
        <p:nvSpPr>
          <p:cNvPr id="46" name="Text 38"/>
          <p:cNvSpPr/>
          <p:nvPr/>
        </p:nvSpPr>
        <p:spPr>
          <a:xfrm>
            <a:off x="6428232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Negative return drag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56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FUTURE ROADMAP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12848" y="2560320"/>
            <a:ext cx="237744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77440" y="243230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05840"/>
            <a:ext cx="2011680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789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1051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84048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Data Integration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84048" y="18288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Connect Yahoo Finance API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84048" y="26334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Real-time price streaming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84048" y="343814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Auto-refresh Power BI dashboard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89120" y="2560320"/>
            <a:ext cx="237744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243230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450592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450592" y="1005840"/>
            <a:ext cx="2011680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07899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044952" y="1051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56032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Predictive Analytics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560320" y="18288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84B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LSTM price forecasting model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560320" y="26334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84B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Linear regression for returns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560320" y="343814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84B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Confidence interval bands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565392" y="2560320"/>
            <a:ext cx="237744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729984" y="243230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626864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26864" y="1005840"/>
            <a:ext cx="2011680" cy="658368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078992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21224" y="1051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3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736592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Expansion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736592" y="18288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Expand to 10+ stocks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736592" y="26334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Sector-wise comparison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736592" y="343814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166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NIFTY 50 benchmark overlay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803136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803136" y="1005840"/>
            <a:ext cx="2011680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1078992"/>
            <a:ext cx="411480" cy="4114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397496" y="1051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4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912864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Stakeholder Reporting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912864" y="18288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Automated monthly PDF reports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912864" y="26334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Email alerts on threshold breach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6912864" y="343814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</a:rPr>
              <a:t>Executive summary email digest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108960"/>
            <a:ext cx="2286000" cy="205740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200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84B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" y="2697480"/>
            <a:ext cx="3657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926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</a:rPr>
              <a:t>Prateek Bag  ·  Data Analyst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" y="3273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Python  ·  SQL  ·  Power BI  ·  DAX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3886200"/>
            <a:ext cx="1188720" cy="9144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" y="3950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5A4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20040" y="4370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Stocks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737360" y="3886200"/>
            <a:ext cx="1188720" cy="9144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737360" y="3950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5A4"/>
                </a:solidFill>
              </a:rPr>
              <a:t>12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737360" y="4370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Months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3886200"/>
            <a:ext cx="1188720" cy="9144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154680" y="3950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5A4"/>
                </a:solidFill>
              </a:rPr>
              <a:t>10+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154680" y="4370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SQL Queries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3886200"/>
            <a:ext cx="1188720" cy="914400"/>
          </a:xfrm>
          <a:prstGeom prst="rect">
            <a:avLst/>
          </a:prstGeom>
          <a:solidFill>
            <a:srgbClr val="1A2E40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0" y="3950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5A4"/>
                </a:solidFill>
              </a:rPr>
              <a:t>233M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572000" y="4370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Volume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Business Strategy</dc:title>
  <dc:subject>PptxGenJS Presentation</dc:subject>
  <dc:creator>Prateek Bag</dc:creator>
  <cp:lastModifiedBy>Prateek Bag</cp:lastModifiedBy>
  <cp:revision>1</cp:revision>
  <dcterms:created xsi:type="dcterms:W3CDTF">2026-03-21T06:23:01Z</dcterms:created>
  <dcterms:modified xsi:type="dcterms:W3CDTF">2026-03-21T06:23:01Z</dcterms:modified>
</cp:coreProperties>
</file>